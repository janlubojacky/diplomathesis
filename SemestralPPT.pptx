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69" r:id="rId3"/>
    <p:sldId id="267" r:id="rId4"/>
    <p:sldId id="266" r:id="rId5"/>
    <p:sldId id="262" r:id="rId6"/>
    <p:sldId id="270" r:id="rId7"/>
    <p:sldId id="271" r:id="rId8"/>
    <p:sldId id="263" r:id="rId9"/>
    <p:sldId id="268" r:id="rId10"/>
    <p:sldId id="264" r:id="rId11"/>
    <p:sldId id="273" r:id="rId12"/>
    <p:sldId id="265" r:id="rId13"/>
    <p:sldId id="272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3"/>
    <p:restoredTop sz="94667"/>
  </p:normalViewPr>
  <p:slideViewPr>
    <p:cSldViewPr snapToGrid="0">
      <p:cViewPr>
        <p:scale>
          <a:sx n="95" d="100"/>
          <a:sy n="95" d="100"/>
        </p:scale>
        <p:origin x="368" y="2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" b="-9"/>
          <a:stretch/>
        </p:blipFill>
        <p:spPr>
          <a:xfrm>
            <a:off x="0" y="0"/>
            <a:ext cx="13435584" cy="75573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40000" y="1800006"/>
            <a:ext cx="10315592" cy="1446663"/>
          </a:xfrm>
        </p:spPr>
        <p:txBody>
          <a:bodyPr anchor="t"/>
          <a:lstStyle>
            <a:lvl1pPr algn="l">
              <a:defRPr lang="cs-CZ" sz="4800" b="1" i="0" u="none" strike="noStrike" kern="4800" baseline="0" smtClean="0">
                <a:solidFill>
                  <a:schemeClr val="bg1"/>
                </a:solidFill>
                <a:latin typeface="Technika-Bold" panose="00000600000000000000" pitchFamily="50" charset="-18"/>
              </a:defRPr>
            </a:lvl1pPr>
          </a:lstStyle>
          <a:p>
            <a:r>
              <a:rPr lang="en-US" sz="4800" b="1" i="0" u="none" strike="noStrike" baseline="0" dirty="0">
                <a:latin typeface="Technika-Bold" panose="00000600000000000000" pitchFamily="50" charset="-18"/>
              </a:rPr>
              <a:t>PRESENTATION TITLE</a:t>
            </a:r>
            <a:br>
              <a:rPr lang="cs-CZ" sz="4800" b="1" i="0" u="none" strike="noStrike" baseline="0" dirty="0">
                <a:latin typeface="Technika-Bold" panose="00000600000000000000" pitchFamily="50" charset="-18"/>
              </a:rPr>
            </a:br>
            <a:r>
              <a:rPr lang="en-US" sz="4800" b="1" i="0" u="none" strike="noStrike" baseline="0" dirty="0">
                <a:latin typeface="Technika-Bold" panose="00000600000000000000" pitchFamily="50" charset="-18"/>
              </a:rPr>
              <a:t>SUBTITLE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0001" y="3441737"/>
            <a:ext cx="10315591" cy="1771721"/>
          </a:xfrm>
        </p:spPr>
        <p:txBody>
          <a:bodyPr/>
          <a:lstStyle>
            <a:lvl1pPr marL="0" indent="0" algn="l">
              <a:buNone/>
              <a:defRPr lang="cs-CZ" sz="2400" b="1" i="0" u="none" strike="noStrike" kern="2800" baseline="0" smtClean="0">
                <a:solidFill>
                  <a:schemeClr val="bg1"/>
                </a:solidFill>
                <a:latin typeface="Technika-Bold" panose="00000600000000000000" pitchFamily="50" charset="-18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FACULTIES, INSTITUTES AND OTHER PARTS</a:t>
            </a:r>
            <a:br>
              <a:rPr lang="en-US" dirty="0"/>
            </a:br>
            <a:r>
              <a:rPr lang="en-US" dirty="0"/>
              <a:t>AUTHOR/TITLE</a:t>
            </a:r>
            <a:r>
              <a:rPr lang="cs-CZ" dirty="0"/>
              <a:t> </a:t>
            </a:r>
            <a:r>
              <a:rPr lang="en-US" dirty="0"/>
              <a:t>NAME</a:t>
            </a:r>
            <a:r>
              <a:rPr lang="cs-CZ" dirty="0"/>
              <a:t> </a:t>
            </a:r>
            <a:r>
              <a:rPr lang="en-US" dirty="0"/>
              <a:t>SURNAME</a:t>
            </a:r>
            <a:br>
              <a:rPr lang="en-US" dirty="0"/>
            </a:br>
            <a:r>
              <a:rPr lang="en-US" dirty="0"/>
              <a:t>DATE</a:t>
            </a:r>
            <a:endParaRPr lang="cs-CZ" dirty="0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1" y="270000"/>
            <a:ext cx="2365085" cy="86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4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" b="-10"/>
          <a:stretch/>
        </p:blipFill>
        <p:spPr>
          <a:xfrm>
            <a:off x="0" y="2"/>
            <a:ext cx="13435584" cy="7557503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3" y="270001"/>
            <a:ext cx="2360815" cy="86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440000" y="1800006"/>
            <a:ext cx="10315592" cy="1446663"/>
          </a:xfrm>
        </p:spPr>
        <p:txBody>
          <a:bodyPr anchor="t"/>
          <a:lstStyle>
            <a:lvl1pPr algn="l">
              <a:defRPr lang="cs-CZ" sz="4800" b="1" i="0" u="none" strike="noStrike" kern="4800" baseline="0" smtClean="0">
                <a:solidFill>
                  <a:schemeClr val="tx1"/>
                </a:solidFill>
                <a:latin typeface="Technika-Bold" panose="00000600000000000000" pitchFamily="50" charset="-18"/>
              </a:defRPr>
            </a:lvl1pPr>
          </a:lstStyle>
          <a:p>
            <a:r>
              <a:rPr lang="en-US" sz="4800" b="1" i="0" u="none" strike="noStrike" baseline="0" dirty="0">
                <a:latin typeface="Technika-Bold" panose="00000600000000000000" pitchFamily="50" charset="-18"/>
              </a:rPr>
              <a:t>PRESENTATION TITLE</a:t>
            </a:r>
            <a:br>
              <a:rPr lang="cs-CZ" sz="4800" b="1" i="0" u="none" strike="noStrike" baseline="0" dirty="0">
                <a:latin typeface="Technika-Bold" panose="00000600000000000000" pitchFamily="50" charset="-18"/>
              </a:rPr>
            </a:br>
            <a:r>
              <a:rPr lang="en-US" sz="4800" b="1" i="0" u="none" strike="noStrike" baseline="0" dirty="0">
                <a:latin typeface="Technika-Bold" panose="00000600000000000000" pitchFamily="50" charset="-18"/>
              </a:rPr>
              <a:t>SUBTITLE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0001" y="3441737"/>
            <a:ext cx="10315591" cy="1771721"/>
          </a:xfrm>
        </p:spPr>
        <p:txBody>
          <a:bodyPr/>
          <a:lstStyle>
            <a:lvl1pPr marL="0" indent="0" algn="l">
              <a:buNone/>
              <a:defRPr lang="cs-CZ" sz="2400" b="1" i="0" u="none" strike="noStrike" kern="2800" baseline="0" smtClean="0">
                <a:solidFill>
                  <a:schemeClr val="tx1"/>
                </a:solidFill>
                <a:latin typeface="Technika-Bold" panose="00000600000000000000" pitchFamily="50" charset="-18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FACULTIES, INSTITUTES AND OTHER PARTS</a:t>
            </a:r>
            <a:br>
              <a:rPr lang="en-US" dirty="0"/>
            </a:br>
            <a:r>
              <a:rPr lang="en-US" dirty="0"/>
              <a:t>AUTHOR/TITLE</a:t>
            </a:r>
            <a:r>
              <a:rPr lang="cs-CZ" dirty="0"/>
              <a:t> </a:t>
            </a:r>
            <a:r>
              <a:rPr lang="en-US" dirty="0"/>
              <a:t>NAME</a:t>
            </a:r>
            <a:r>
              <a:rPr lang="cs-CZ" dirty="0"/>
              <a:t> </a:t>
            </a:r>
            <a:r>
              <a:rPr lang="en-US" dirty="0"/>
              <a:t>SURNAME</a:t>
            </a:r>
            <a:br>
              <a:rPr lang="en-US" dirty="0"/>
            </a:br>
            <a:r>
              <a:rPr lang="en-US" dirty="0"/>
              <a:t>DATE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06087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0000" y="1800000"/>
            <a:ext cx="10392000" cy="1087934"/>
          </a:xfrm>
        </p:spPr>
        <p:txBody>
          <a:bodyPr anchor="t"/>
          <a:lstStyle>
            <a:lvl1pPr>
              <a:defRPr sz="2800" kern="2800" baseline="0">
                <a:latin typeface="Technika-Bold" panose="00000600000000000000" pitchFamily="50" charset="-18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440000" y="3059766"/>
            <a:ext cx="10392000" cy="3528000"/>
          </a:xfrm>
        </p:spPr>
        <p:txBody>
          <a:bodyPr>
            <a:normAutofit/>
          </a:bodyPr>
          <a:lstStyle>
            <a:lvl1pPr marL="0" indent="0">
              <a:buNone/>
              <a:defRPr sz="2000" kern="3000" baseline="0">
                <a:latin typeface="Technika-Bold" panose="00000600000000000000" pitchFamily="50" charset="-18"/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260777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dpis a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69600" y="1800001"/>
            <a:ext cx="10262400" cy="4788000"/>
          </a:xfrm>
        </p:spPr>
        <p:txBody>
          <a:bodyPr>
            <a:normAutofit/>
          </a:bodyPr>
          <a:lstStyle>
            <a:lvl1pPr marL="0" indent="0">
              <a:buNone/>
              <a:defRPr sz="2000" kern="3000" baseline="0">
                <a:latin typeface="Technika-Bold" panose="00000600000000000000" pitchFamily="50" charset="-18"/>
              </a:defRPr>
            </a:lvl1pPr>
          </a:lstStyle>
          <a:p>
            <a:pPr lvl="0"/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85588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2756858" y="368300"/>
            <a:ext cx="9184943" cy="122848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sz="180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000" y="270000"/>
            <a:ext cx="11472000" cy="6318000"/>
          </a:xfrm>
        </p:spPr>
        <p:txBody>
          <a:bodyPr>
            <a:normAutofit/>
          </a:bodyPr>
          <a:lstStyle>
            <a:lvl1pPr marL="0" indent="0" algn="ctr">
              <a:buNone/>
              <a:defRPr sz="2000" kern="3000" baseline="0">
                <a:latin typeface="Technika-Bold" panose="00000600000000000000" pitchFamily="50" charset="-18"/>
              </a:defRPr>
            </a:lvl1pPr>
          </a:lstStyle>
          <a:p>
            <a:pPr lvl="0"/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811640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0000" y="1440001"/>
            <a:ext cx="103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0000" y="2880000"/>
            <a:ext cx="10392000" cy="37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003" y="270001"/>
            <a:ext cx="2360815" cy="86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13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echnika-Bold" panose="00000600000000000000" pitchFamily="50" charset="-18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echnika" panose="00000600000000000000" pitchFamily="50" charset="-18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echnika" panose="00000600000000000000" pitchFamily="50" charset="-18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echnika" panose="00000600000000000000" pitchFamily="50" charset="-18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echnika" panose="00000600000000000000" pitchFamily="50" charset="-18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echnika" panose="00000600000000000000" pitchFamily="50" charset="-18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131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4168-9262-6C13-FC1B-D7CDD269A7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 neural networks for </a:t>
            </a:r>
            <a:r>
              <a:rPr lang="en-US" dirty="0" err="1"/>
              <a:t>identifynding</a:t>
            </a:r>
            <a:r>
              <a:rPr lang="en-US" dirty="0"/>
              <a:t> robust biomarkers in </a:t>
            </a:r>
            <a:r>
              <a:rPr lang="en-US" dirty="0" err="1"/>
              <a:t>multiomics</a:t>
            </a:r>
            <a:r>
              <a:rPr lang="en-US" dirty="0"/>
              <a:t> data</a:t>
            </a:r>
            <a:endParaRPr lang="en-C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6B1D0-FEF0-7832-8970-D88A246A8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1" y="4510373"/>
            <a:ext cx="10315591" cy="177172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CTU FEL, Department of Computer Science</a:t>
            </a:r>
          </a:p>
          <a:p>
            <a:r>
              <a:rPr lang="en-US" dirty="0"/>
              <a:t>by Jan </a:t>
            </a:r>
            <a:r>
              <a:rPr lang="en-US" dirty="0" err="1"/>
              <a:t>Lubojacký</a:t>
            </a:r>
            <a:endParaRPr lang="en-US" dirty="0"/>
          </a:p>
          <a:p>
            <a:r>
              <a:rPr lang="en-US" dirty="0"/>
              <a:t>supervisor Doc. Ing. </a:t>
            </a:r>
            <a:r>
              <a:rPr lang="en-US" dirty="0" err="1"/>
              <a:t>Jiří</a:t>
            </a:r>
            <a:r>
              <a:rPr lang="en-US" dirty="0"/>
              <a:t> </a:t>
            </a:r>
            <a:r>
              <a:rPr lang="en-US" dirty="0" err="1"/>
              <a:t>Kléma</a:t>
            </a:r>
            <a:r>
              <a:rPr lang="en-US" dirty="0"/>
              <a:t>, Ph.D.</a:t>
            </a:r>
          </a:p>
          <a:p>
            <a:r>
              <a:rPr lang="en-US" dirty="0"/>
              <a:t>30.1.2024</a:t>
            </a:r>
          </a:p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933450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B9D7-7D5D-6716-FFEF-C3151AFA0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439DB-FF80-804F-5B59-16E582468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0" y="3059766"/>
            <a:ext cx="10392000" cy="3444065"/>
          </a:xfrm>
        </p:spPr>
        <p:txBody>
          <a:bodyPr>
            <a:normAutofit/>
          </a:bodyPr>
          <a:lstStyle/>
          <a:p>
            <a:r>
              <a:rPr lang="en-CZ" sz="2800" dirty="0"/>
              <a:t>- disease subtype classification</a:t>
            </a:r>
          </a:p>
          <a:p>
            <a:r>
              <a:rPr lang="en-CZ" sz="2800" dirty="0"/>
              <a:t>- survival prediction</a:t>
            </a:r>
          </a:p>
          <a:p>
            <a:r>
              <a:rPr lang="en-CZ" sz="2800" dirty="0"/>
              <a:t>- drug response prediction</a:t>
            </a:r>
          </a:p>
          <a:p>
            <a:r>
              <a:rPr lang="en-CZ" sz="2800" dirty="0"/>
              <a:t>- we want explainable models, that can hint at the underlying biomarkers</a:t>
            </a:r>
          </a:p>
        </p:txBody>
      </p:sp>
    </p:spTree>
    <p:extLst>
      <p:ext uri="{BB962C8B-B14F-4D97-AF65-F5344CB8AC3E}">
        <p14:creationId xmlns:p14="http://schemas.microsoft.com/office/powerpoint/2010/main" val="264414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F1F5-E87B-47ED-EA44-F2FB919A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Multi-omic data includes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F6009-4589-10B9-58BB-FF8065A6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Z" sz="2800" dirty="0"/>
              <a:t>- expression data</a:t>
            </a:r>
          </a:p>
          <a:p>
            <a:r>
              <a:rPr lang="en-CZ" sz="2800" dirty="0"/>
              <a:t>	- mRNA, miRNA, circRNA</a:t>
            </a:r>
          </a:p>
          <a:p>
            <a:r>
              <a:rPr lang="en-CZ" sz="2800" dirty="0"/>
              <a:t>- DNA methylation</a:t>
            </a:r>
          </a:p>
          <a:p>
            <a:r>
              <a:rPr lang="en-CZ" sz="2800" dirty="0"/>
              <a:t>- Copy number variations (CNV)</a:t>
            </a:r>
          </a:p>
          <a:p>
            <a:r>
              <a:rPr lang="en-CZ" sz="2800" dirty="0"/>
              <a:t>- TE counts</a:t>
            </a:r>
          </a:p>
        </p:txBody>
      </p:sp>
    </p:spTree>
    <p:extLst>
      <p:ext uri="{BB962C8B-B14F-4D97-AF65-F5344CB8AC3E}">
        <p14:creationId xmlns:p14="http://schemas.microsoft.com/office/powerpoint/2010/main" val="321789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CAE38-80C3-F13A-DE28-18866823A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ADD3-8BD2-42CD-7990-97E6E1D9F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Z" sz="2800" dirty="0"/>
              <a:t>- Breast invasive carcinoma (BRCA)</a:t>
            </a:r>
          </a:p>
          <a:p>
            <a:r>
              <a:rPr lang="en-CZ" sz="2800" dirty="0"/>
              <a:t>- Myelodysplastic syndromes (MDS)</a:t>
            </a:r>
          </a:p>
          <a:p>
            <a:r>
              <a:rPr lang="en-CZ" sz="2800" dirty="0"/>
              <a:t>- Others, for future work</a:t>
            </a:r>
          </a:p>
          <a:p>
            <a:r>
              <a:rPr lang="en-CZ" sz="2800" dirty="0"/>
              <a:t>	- Liver cancer (KIPAN)</a:t>
            </a:r>
          </a:p>
          <a:p>
            <a:r>
              <a:rPr lang="en-CZ" sz="2800" dirty="0"/>
              <a:t>	- Lower grade glioma (LGG)</a:t>
            </a:r>
          </a:p>
        </p:txBody>
      </p:sp>
    </p:spTree>
    <p:extLst>
      <p:ext uri="{BB962C8B-B14F-4D97-AF65-F5344CB8AC3E}">
        <p14:creationId xmlns:p14="http://schemas.microsoft.com/office/powerpoint/2010/main" val="332782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86430-66D4-B7C4-FFF8-D5532A7D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Integrating data</a:t>
            </a:r>
          </a:p>
        </p:txBody>
      </p:sp>
      <p:pic>
        <p:nvPicPr>
          <p:cNvPr id="4" name="Content Placeholder 8" descr="A white circle with black text&#10;&#10;Description automatically generated">
            <a:extLst>
              <a:ext uri="{FF2B5EF4-FFF2-40B4-BE49-F238E27FC236}">
                <a16:creationId xmlns:a16="http://schemas.microsoft.com/office/drawing/2014/main" id="{57FECB7E-01D6-520D-8B0D-6A58045ED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0000" y="2804068"/>
            <a:ext cx="9893300" cy="3314700"/>
          </a:xfrm>
        </p:spPr>
      </p:pic>
    </p:spTree>
    <p:extLst>
      <p:ext uri="{BB962C8B-B14F-4D97-AF65-F5344CB8AC3E}">
        <p14:creationId xmlns:p14="http://schemas.microsoft.com/office/powerpoint/2010/main" val="403104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745C-9E7C-528D-9A0B-7BA9E65C0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Data preprocessing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048F0B-A78C-F8BB-B56A-28B30B88D4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CZ" sz="2800" dirty="0"/>
                  <a:t>- normalize reads with RPKM, FPKM or TPM</a:t>
                </a:r>
              </a:p>
              <a:p>
                <a:r>
                  <a:rPr lang="en-CZ" sz="2800" dirty="0"/>
                  <a:t>- log transform with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</m:func>
                  </m:oMath>
                </a14:m>
                <a:endParaRPr lang="en-US" sz="2800" b="0" dirty="0"/>
              </a:p>
              <a:p>
                <a:r>
                  <a:rPr lang="en-CZ" sz="2800" dirty="0"/>
                  <a:t>- filter out uninformational features</a:t>
                </a:r>
              </a:p>
              <a:p>
                <a:r>
                  <a:rPr lang="en-CZ" sz="2800" dirty="0"/>
                  <a:t>- normalize to zero mean and unit variance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048F0B-A78C-F8BB-B56A-28B30B88D4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1" t="-2867"/>
                </a:stretch>
              </a:blipFill>
            </p:spPr>
            <p:txBody>
              <a:bodyPr/>
              <a:lstStyle/>
              <a:p>
                <a:r>
                  <a:rPr lang="en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4182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E223-DA32-AF7F-3FC1-0EABC02BE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Baseline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5E341-2001-EC68-A8D0-E4FC871FB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844178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51151-AA7B-6805-F2CE-559FB507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Mogonet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85609-C4A2-C8FE-9C54-7E21E94CF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72611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002A7-55E9-34CD-C6C3-B99F3B47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Feature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8D06C-48B0-B30A-866C-061334B0A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Z" sz="2800" dirty="0"/>
              <a:t>- gene - gene interactions</a:t>
            </a:r>
          </a:p>
          <a:p>
            <a:r>
              <a:rPr lang="en-CZ" sz="2800" dirty="0"/>
              <a:t>- protein - protein interactions</a:t>
            </a:r>
          </a:p>
          <a:p>
            <a:r>
              <a:rPr lang="en-CZ" sz="2800" dirty="0"/>
              <a:t>- miRNA - gene interactions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FDF85B-1978-9F93-8BB4-E52F9B230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843" y="816966"/>
            <a:ext cx="5861157" cy="57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80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192F-B3B7-3034-C1BF-0E8D30BD2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MPK-GNN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3EAB7-A7C6-57E8-1CB3-339DF47B8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719765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CEA6B-AF56-568A-31D3-463C38BE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C6A8F-E852-2626-2896-18CD1558D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011778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DB31-FEB6-B58B-9B33-43B8EA084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What is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D09B3-5DF3-4B19-082E-D485A660A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288924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1027-7EBB-BF2E-9677-AE201C852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658" y="2705668"/>
            <a:ext cx="10315592" cy="1446663"/>
          </a:xfrm>
        </p:spPr>
        <p:txBody>
          <a:bodyPr/>
          <a:lstStyle/>
          <a:p>
            <a:r>
              <a:rPr lang="en-CZ" dirty="0"/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2818648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3861-821E-F101-4B0D-DA647DB4C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170E5-B4D5-6080-9922-80E42B813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03916687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chnika">
      <a:majorFont>
        <a:latin typeface="Technika-Bold"/>
        <a:ea typeface=""/>
        <a:cs typeface=""/>
      </a:majorFont>
      <a:minorFont>
        <a:latin typeface="Technika"/>
        <a:ea typeface=""/>
        <a:cs typeface="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EN.potx" id="{31B9A49A-93B2-47C3-B420-5175C9CFF6AC}" vid="{132A1726-9142-4B5F-A074-254CA1B02F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SABLONA CVUT_PowerPoint prezentace_verze AJ</Template>
  <TotalTime>51</TotalTime>
  <Words>181</Words>
  <Application>Microsoft Macintosh PowerPoint</Application>
  <PresentationFormat>Widescreen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Technika</vt:lpstr>
      <vt:lpstr>Technika-Bold</vt:lpstr>
      <vt:lpstr>Motiv Office</vt:lpstr>
      <vt:lpstr>Graph neural networks for identifynding robust biomarkers in multiomics data</vt:lpstr>
      <vt:lpstr>Task</vt:lpstr>
      <vt:lpstr>Multi-omic data includes</vt:lpstr>
      <vt:lpstr>Datasets</vt:lpstr>
      <vt:lpstr>Integrating data</vt:lpstr>
      <vt:lpstr>Data preprocessing</vt:lpstr>
      <vt:lpstr>Baseline performance</vt:lpstr>
      <vt:lpstr>Mogonet</vt:lpstr>
      <vt:lpstr>Feature interactions</vt:lpstr>
      <vt:lpstr>MPK-GNN</vt:lpstr>
      <vt:lpstr>PowerPoint Presentation</vt:lpstr>
      <vt:lpstr>What is next</vt:lpstr>
      <vt:lpstr>Thank you for your attention.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 for identifynding robust biomarkers in multiomics data</dc:title>
  <dc:creator>Lubojacky, Jan</dc:creator>
  <cp:lastModifiedBy>Lubojacky, Jan</cp:lastModifiedBy>
  <cp:revision>2</cp:revision>
  <dcterms:created xsi:type="dcterms:W3CDTF">2024-01-30T21:05:29Z</dcterms:created>
  <dcterms:modified xsi:type="dcterms:W3CDTF">2024-02-04T22:42:53Z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1acc0d-dcc4-4dc9-a2c5-be70b05a2fe6_Enabled">
    <vt:lpwstr>true</vt:lpwstr>
  </property>
  <property fmtid="{D5CDD505-2E9C-101B-9397-08002B2CF9AE}" pid="3" name="MSIP_Label_e81acc0d-dcc4-4dc9-a2c5-be70b05a2fe6_SetDate">
    <vt:lpwstr>2024-01-30T21:23:42Z</vt:lpwstr>
  </property>
  <property fmtid="{D5CDD505-2E9C-101B-9397-08002B2CF9AE}" pid="4" name="MSIP_Label_e81acc0d-dcc4-4dc9-a2c5-be70b05a2fe6_Method">
    <vt:lpwstr>Privileged</vt:lpwstr>
  </property>
  <property fmtid="{D5CDD505-2E9C-101B-9397-08002B2CF9AE}" pid="5" name="MSIP_Label_e81acc0d-dcc4-4dc9-a2c5-be70b05a2fe6_Name">
    <vt:lpwstr>e81acc0d-dcc4-4dc9-a2c5-be70b05a2fe6</vt:lpwstr>
  </property>
  <property fmtid="{D5CDD505-2E9C-101B-9397-08002B2CF9AE}" pid="6" name="MSIP_Label_e81acc0d-dcc4-4dc9-a2c5-be70b05a2fe6_SiteId">
    <vt:lpwstr>a00de4ec-48a8-43a6-be74-e31274e2060d</vt:lpwstr>
  </property>
  <property fmtid="{D5CDD505-2E9C-101B-9397-08002B2CF9AE}" pid="7" name="MSIP_Label_e81acc0d-dcc4-4dc9-a2c5-be70b05a2fe6_ActionId">
    <vt:lpwstr>e2ab4854-033f-4a77-8dec-622254f0d0a9</vt:lpwstr>
  </property>
  <property fmtid="{D5CDD505-2E9C-101B-9397-08002B2CF9AE}" pid="8" name="MSIP_Label_e81acc0d-dcc4-4dc9-a2c5-be70b05a2fe6_ContentBits">
    <vt:lpwstr>0</vt:lpwstr>
  </property>
</Properties>
</file>